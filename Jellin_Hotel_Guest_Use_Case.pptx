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201168"/>
            <a:ext cx="2011680" cy="310896"/>
          </a:xfrm>
          <a:prstGeom prst="roundRect">
            <a:avLst/>
          </a:prstGeom>
          <a:solidFill>
            <a:srgbClr val="F5F3FF"/>
          </a:solidFill>
          <a:ln>
            <a:solidFill>
              <a:srgbClr val="F5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6D28D9"/>
                </a:solidFill>
                <a:latin typeface="Arial"/>
              </a:rPr>
              <a:t>JELLIN HOSPITALITY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6217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182135"/>
                </a:solidFill>
                <a:latin typeface="Arial"/>
              </a:rPr>
              <a:t>The Hotel Guest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5760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D28D9"/>
                </a:solidFill>
                <a:latin typeface="Arial"/>
              </a:rPr>
              <a:t>A hotel turns one check-in into breakfast, coffee, and neighborhood discovery.</a:t>
            </a:r>
          </a:p>
        </p:txBody>
      </p:sp>
      <p:pic>
        <p:nvPicPr>
          <p:cNvPr id="5" name="Picture 4" descr="jellin-hotel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411480"/>
            <a:ext cx="4572000" cy="5669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828800"/>
            <a:ext cx="5669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82135"/>
                </a:solidFill>
                <a:latin typeface="Arial"/>
              </a:defRPr>
            </a:pPr>
            <a:r>
              <a:t>Guest shares only a phone number at reception.</a:t>
            </a:r>
          </a:p>
          <a:p>
            <a:pPr>
              <a:spcAft>
                <a:spcPts val="800"/>
              </a:spcAft>
              <a:defRPr sz="2000">
                <a:solidFill>
                  <a:srgbClr val="182135"/>
                </a:solidFill>
                <a:latin typeface="Arial"/>
              </a:defRPr>
            </a:pPr>
            <a:r>
              <a:t>Jellin sends an instant welcome reward by SMS or QR link.</a:t>
            </a:r>
          </a:p>
          <a:p>
            <a:pPr>
              <a:spcAft>
                <a:spcPts val="800"/>
              </a:spcAft>
              <a:defRPr sz="2000">
                <a:solidFill>
                  <a:srgbClr val="182135"/>
                </a:solidFill>
                <a:latin typeface="Arial"/>
              </a:defRPr>
            </a:pPr>
            <a:r>
              <a:t>The same loyalty identity extends to partner businesses nearby.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17720"/>
            <a:ext cx="53035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b="1" sz="1800">
                <a:solidFill>
                  <a:srgbClr val="6D28D9"/>
                </a:solidFill>
                <a:latin typeface="Arial"/>
              </a:rPr>
              <a:t>Core promise</a:t>
            </a:r>
          </a:p>
          <a:p>
            <a:pPr>
              <a:spcBef>
                <a:spcPts val="600"/>
              </a:spcBef>
              <a:defRPr sz="1300">
                <a:solidFill>
                  <a:srgbClr val="5A667C"/>
                </a:solidFill>
                <a:latin typeface="Arial"/>
              </a:defRPr>
            </a:pPr>
            <a:r>
              <a:t>No app download for the traveler. Immediate value for the hotel. Measurable spillover to local partners.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6217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182135"/>
                </a:solidFill>
                <a:latin typeface="Arial"/>
              </a:rPr>
              <a:t>Before Jellin vs With Jellin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70432"/>
            <a:ext cx="5760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D28D9"/>
                </a:solidFill>
                <a:latin typeface="Arial"/>
              </a:rPr>
              <a:t>The hospitality problem is not awareness. It is friction and poor follow-through.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b="1" sz="1800">
                <a:solidFill>
                  <a:srgbClr val="6D28D9"/>
                </a:solidFill>
                <a:latin typeface="Arial"/>
              </a:rPr>
              <a:t>Before Jellin</a:t>
            </a:r>
          </a:p>
          <a:p>
            <a:pPr>
              <a:spcBef>
                <a:spcPts val="600"/>
              </a:spcBef>
              <a:defRPr sz="1300">
                <a:solidFill>
                  <a:srgbClr val="5A667C"/>
                </a:solidFill>
                <a:latin typeface="Arial"/>
              </a:defRPr>
            </a:pPr>
            <a:r>
              <a:t>A traveler checks into an unfamiliar city, gets paper flyers or generic suggestions, and rarely engages with nearby partners.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65760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b="1" sz="1800">
                <a:solidFill>
                  <a:srgbClr val="6D28D9"/>
                </a:solidFill>
                <a:latin typeface="Arial"/>
              </a:rPr>
              <a:t>With Jellin</a:t>
            </a:r>
          </a:p>
          <a:p>
            <a:pPr>
              <a:spcBef>
                <a:spcPts val="600"/>
              </a:spcBef>
              <a:defRPr sz="1300">
                <a:solidFill>
                  <a:srgbClr val="5A667C"/>
                </a:solidFill>
                <a:latin typeface="Arial"/>
              </a:defRPr>
            </a:pPr>
            <a:r>
              <a:t>The concierge Jells the guest at check-in. The guest receives 5 instant Jells, breakfast value, a free coffee, and nearby partner discounts in seconds.</a:t>
            </a:r>
          </a:p>
        </p:txBody>
      </p:sp>
      <p:pic>
        <p:nvPicPr>
          <p:cNvPr id="6" name="Picture 5" descr="Treat-app-check-in-arro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17320"/>
            <a:ext cx="4937760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903720" y="5394960"/>
            <a:ext cx="420624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i="1">
                <a:solidFill>
                  <a:srgbClr val="DB2777"/>
                </a:solidFill>
                <a:latin typeface="Arial"/>
              </a:rPr>
              <a:t>"Wow, that's great. Can I use it at other places too?"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6217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182135"/>
                </a:solidFill>
                <a:latin typeface="Arial"/>
              </a:rPr>
              <a:t>Journey Step 1: Reception Check-In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70432"/>
            <a:ext cx="5760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D28D9"/>
                </a:solidFill>
                <a:latin typeface="Arial"/>
              </a:rPr>
              <a:t>The concierge activates the guest with almost no training and no signup form.</a:t>
            </a:r>
          </a:p>
        </p:txBody>
      </p:sp>
      <p:pic>
        <p:nvPicPr>
          <p:cNvPr id="4" name="Picture 3" descr="Treat-app-check-in-arro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48640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0" y="1554480"/>
            <a:ext cx="4663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82135"/>
                </a:solidFill>
                <a:latin typeface="Arial"/>
              </a:defRPr>
            </a:pPr>
            <a:r>
              <a:t>Concierge asks: 'Your number?'</a:t>
            </a:r>
          </a:p>
          <a:p>
            <a:pPr>
              <a:spcAft>
                <a:spcPts val="800"/>
              </a:spcAft>
              <a:defRPr sz="1800">
                <a:solidFill>
                  <a:srgbClr val="182135"/>
                </a:solidFill>
                <a:latin typeface="Arial"/>
              </a:defRPr>
            </a:pPr>
            <a:r>
              <a:t>Operator checks the guest in from the Jellin business flow.</a:t>
            </a:r>
          </a:p>
          <a:p>
            <a:pPr>
              <a:spcAft>
                <a:spcPts val="800"/>
              </a:spcAft>
              <a:defRPr sz="1800">
                <a:solidFill>
                  <a:srgbClr val="182135"/>
                </a:solidFill>
                <a:latin typeface="Arial"/>
              </a:defRPr>
            </a:pPr>
            <a:r>
              <a:t>Guest is enrolled under the hotel's loyalty umbrella instantly.</a:t>
            </a:r>
          </a:p>
          <a:p>
            <a:pPr>
              <a:spcAft>
                <a:spcPts val="800"/>
              </a:spcAft>
              <a:defRPr sz="1800">
                <a:solidFill>
                  <a:srgbClr val="182135"/>
                </a:solidFill>
                <a:latin typeface="Arial"/>
              </a:defRPr>
            </a:pPr>
            <a:r>
              <a:t>The hotel can assign Jells and instant coupons at the same moment.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4572000"/>
            <a:ext cx="46634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b="1" sz="1800">
                <a:solidFill>
                  <a:srgbClr val="6D28D9"/>
                </a:solidFill>
                <a:latin typeface="Arial"/>
              </a:rPr>
              <a:t>Operational benefit</a:t>
            </a:r>
          </a:p>
          <a:p>
            <a:pPr>
              <a:spcBef>
                <a:spcPts val="600"/>
              </a:spcBef>
              <a:defRPr sz="1300">
                <a:solidFill>
                  <a:srgbClr val="5A667C"/>
                </a:solidFill>
                <a:latin typeface="Arial"/>
              </a:defRPr>
            </a:pPr>
            <a:r>
              <a:t>Front desk staff can create a premium first-touch moment without asking the guest to download an app or fill out a long form.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6217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182135"/>
                </a:solidFill>
                <a:latin typeface="Arial"/>
              </a:rPr>
              <a:t>Journey Step 2: The Guest Receives Value Immediately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70432"/>
            <a:ext cx="5760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D28D9"/>
                </a:solidFill>
                <a:latin typeface="Arial"/>
              </a:rPr>
              <a:t>Jellin converts check-in into visible rewards the traveler can actually use.</a:t>
            </a:r>
          </a:p>
        </p:txBody>
      </p:sp>
      <p:pic>
        <p:nvPicPr>
          <p:cNvPr id="4" name="Picture 3" descr="Treat-app-loyalty-program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3474720" cy="4480560"/>
          </a:xfrm>
          <a:prstGeom prst="rect">
            <a:avLst/>
          </a:prstGeom>
        </p:spPr>
      </p:pic>
      <p:pic>
        <p:nvPicPr>
          <p:cNvPr id="5" name="Picture 4" descr="treat-app-coupons-lis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1554480"/>
            <a:ext cx="3474720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0" y="182880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82135"/>
                </a:solidFill>
                <a:latin typeface="Arial"/>
              </a:defRPr>
            </a:pPr>
            <a:r>
              <a:t>Breakfast discount at the hotel restaurant.</a:t>
            </a:r>
          </a:p>
          <a:p>
            <a:pPr>
              <a:spcAft>
                <a:spcPts val="800"/>
              </a:spcAft>
              <a:defRPr sz="1700">
                <a:solidFill>
                  <a:srgbClr val="182135"/>
                </a:solidFill>
                <a:latin typeface="Arial"/>
              </a:defRPr>
            </a:pPr>
            <a:r>
              <a:t>Free coffee reward as an immediate delight moment.</a:t>
            </a:r>
          </a:p>
          <a:p>
            <a:pPr>
              <a:spcAft>
                <a:spcPts val="800"/>
              </a:spcAft>
              <a:defRPr sz="1700">
                <a:solidFill>
                  <a:srgbClr val="182135"/>
                </a:solidFill>
                <a:latin typeface="Arial"/>
              </a:defRPr>
            </a:pPr>
            <a:r>
              <a:t>Partner offers from nearby cafe and boutique under the same ecosystem.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4434840"/>
            <a:ext cx="32004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b="1" sz="1800">
                <a:solidFill>
                  <a:srgbClr val="6D28D9"/>
                </a:solidFill>
                <a:latin typeface="Arial"/>
              </a:rPr>
              <a:t>Guest experience</a:t>
            </a:r>
          </a:p>
          <a:p>
            <a:pPr>
              <a:spcBef>
                <a:spcPts val="600"/>
              </a:spcBef>
              <a:defRPr sz="1300">
                <a:solidFill>
                  <a:srgbClr val="5A667C"/>
                </a:solidFill>
                <a:latin typeface="Arial"/>
              </a:defRPr>
            </a:pPr>
            <a:r>
              <a:t>The traveler understands the reward in seconds because the value is concrete, local, and usable right away.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6217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182135"/>
                </a:solidFill>
                <a:latin typeface="Arial"/>
              </a:rPr>
              <a:t>Journey Step 3: Redeem Across the Neighborhood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70432"/>
            <a:ext cx="5760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D28D9"/>
                </a:solidFill>
                <a:latin typeface="Arial"/>
              </a:rPr>
              <a:t>One hotel-sponsored identity creates traffic for partner businesses.</a:t>
            </a:r>
          </a:p>
        </p:txBody>
      </p:sp>
      <p:pic>
        <p:nvPicPr>
          <p:cNvPr id="4" name="Picture 3" descr="jellin-everyday-regular-0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4572000" cy="4206240"/>
          </a:xfrm>
          <a:prstGeom prst="rect">
            <a:avLst/>
          </a:prstGeom>
        </p:spPr>
      </p:pic>
      <p:pic>
        <p:nvPicPr>
          <p:cNvPr id="5" name="Picture 4" descr="jellin-qr-coupon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554480"/>
            <a:ext cx="2560320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95360" y="178308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82135"/>
                </a:solidFill>
                <a:latin typeface="Arial"/>
              </a:defRPr>
            </a:pPr>
            <a:r>
              <a:t>Guest visits a partner cafe the next morning.</a:t>
            </a:r>
          </a:p>
          <a:p>
            <a:pPr>
              <a:spcAft>
                <a:spcPts val="800"/>
              </a:spcAft>
              <a:defRPr sz="1600">
                <a:solidFill>
                  <a:srgbClr val="182135"/>
                </a:solidFill>
                <a:latin typeface="Arial"/>
              </a:defRPr>
            </a:pPr>
            <a:r>
              <a:t>They show the QR reward from SMS, email, or app.</a:t>
            </a:r>
          </a:p>
          <a:p>
            <a:pPr>
              <a:spcAft>
                <a:spcPts val="800"/>
              </a:spcAft>
              <a:defRPr sz="1600">
                <a:solidFill>
                  <a:srgbClr val="182135"/>
                </a:solidFill>
                <a:latin typeface="Arial"/>
              </a:defRPr>
            </a:pPr>
            <a:r>
              <a:t>The partner redeems the offer without owning a separate loyalty program.</a:t>
            </a:r>
          </a:p>
          <a:p>
            <a:pPr>
              <a:spcAft>
                <a:spcPts val="800"/>
              </a:spcAft>
              <a:defRPr sz="1600">
                <a:solidFill>
                  <a:srgbClr val="182135"/>
                </a:solidFill>
                <a:latin typeface="Arial"/>
              </a:defRPr>
            </a:pPr>
            <a:r>
              <a:t>The hotel measures partner engagement instead of handing out untracked flyers.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0" y="4937760"/>
            <a:ext cx="55778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b="1" sz="1800">
                <a:solidFill>
                  <a:srgbClr val="6D28D9"/>
                </a:solidFill>
                <a:latin typeface="Arial"/>
              </a:rPr>
              <a:t>Cross-business engine</a:t>
            </a:r>
          </a:p>
          <a:p>
            <a:pPr>
              <a:spcBef>
                <a:spcPts val="600"/>
              </a:spcBef>
              <a:defRPr sz="1300">
                <a:solidFill>
                  <a:srgbClr val="5A667C"/>
                </a:solidFill>
                <a:latin typeface="Arial"/>
              </a:defRPr>
            </a:pPr>
            <a:r>
              <a:t>This is the distinctive Jellin move: the hotel becomes the hub of a local rewards network instead of a standalone property.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6217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182135"/>
                </a:solidFill>
                <a:latin typeface="Arial"/>
              </a:rPr>
              <a:t>Why This Use Case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70432"/>
            <a:ext cx="5760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D28D9"/>
                </a:solidFill>
                <a:latin typeface="Arial"/>
              </a:rPr>
              <a:t>Hotel guest onboarding becomes a commercial channel, not just a service moment.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5577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82135"/>
                </a:solidFill>
                <a:latin typeface="Arial"/>
              </a:defRPr>
            </a:pPr>
            <a:r>
              <a:t>Increase guest satisfaction with immediate, relevant welcome rewards.</a:t>
            </a:r>
          </a:p>
          <a:p>
            <a:pPr>
              <a:spcAft>
                <a:spcPts val="800"/>
              </a:spcAft>
              <a:defRPr sz="1800">
                <a:solidFill>
                  <a:srgbClr val="182135"/>
                </a:solidFill>
                <a:latin typeface="Arial"/>
              </a:defRPr>
            </a:pPr>
            <a:r>
              <a:t>Drive breakfast, coffee, and on-site upsell conversion.</a:t>
            </a:r>
          </a:p>
          <a:p>
            <a:pPr>
              <a:spcAft>
                <a:spcPts val="800"/>
              </a:spcAft>
              <a:defRPr sz="1800">
                <a:solidFill>
                  <a:srgbClr val="182135"/>
                </a:solidFill>
                <a:latin typeface="Arial"/>
              </a:defRPr>
            </a:pPr>
            <a:r>
              <a:t>Send measurable traffic to neighborhood partners and concession points.</a:t>
            </a:r>
          </a:p>
          <a:p>
            <a:pPr>
              <a:spcAft>
                <a:spcPts val="800"/>
              </a:spcAft>
              <a:defRPr sz="1800">
                <a:solidFill>
                  <a:srgbClr val="182135"/>
                </a:solidFill>
                <a:latin typeface="Arial"/>
              </a:defRPr>
            </a:pPr>
            <a:r>
              <a:t>Operate with phone number, email, or QR flows depending on guest preference.</a:t>
            </a:r>
          </a:p>
          <a:p>
            <a:pPr>
              <a:spcAft>
                <a:spcPts val="800"/>
              </a:spcAft>
              <a:defRPr sz="1800">
                <a:solidFill>
                  <a:srgbClr val="182135"/>
                </a:solidFill>
                <a:latin typeface="Arial"/>
              </a:defRPr>
            </a:pPr>
            <a:r>
              <a:t>Keep the experience privacy-conscious and low-friction.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1600200"/>
            <a:ext cx="4480560" cy="4297680"/>
          </a:xfrm>
          <a:prstGeom prst="round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Ideal for</a:t>
            </a:r>
          </a:p>
          <a:p>
            <a:pPr>
              <a:spcAft>
                <a:spcPts val="100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Hotels, resorts, serviced apartments, mall-linked hospitality hubs, and neighborhood partnerships.</a:t>
            </a:r>
          </a:p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Use in pitch</a:t>
            </a:r>
          </a:p>
          <a:p>
            <a:pPr>
              <a:spcAft>
                <a:spcPts val="100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Show how Jellin connects guest experience, partner discovery, and measurable local commerce in one flow.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